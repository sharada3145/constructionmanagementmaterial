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8" d="100"/>
          <a:sy n="78" d="100"/>
        </p:scale>
        <p:origin x="1176"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74F5D6-BA1D-4CE2-B60A-385CE10A05E8}" type="datetimeFigureOut">
              <a:rPr lang="en-US" smtClean="0"/>
              <a:t>7/3/2026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31EC8-6FE4-4852-B70F-1A79F1AE8D60}" type="slidenum">
              <a:rPr lang="en-US" smtClean="0"/>
              <a:t>‹#›</a:t>
            </a:fld>
            <a:endParaRPr lang="en-US"/>
          </a:p>
        </p:txBody>
      </p:sp>
    </p:spTree>
    <p:extLst>
      <p:ext uri="{BB962C8B-B14F-4D97-AF65-F5344CB8AC3E}">
        <p14:creationId xmlns:p14="http://schemas.microsoft.com/office/powerpoint/2010/main" val="8345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731EC8-6FE4-4852-B70F-1A79F1AE8D60}" type="slidenum">
              <a:rPr lang="en-US" smtClean="0"/>
              <a:t>2</a:t>
            </a:fld>
            <a:endParaRPr lang="en-US"/>
          </a:p>
        </p:txBody>
      </p:sp>
    </p:spTree>
    <p:extLst>
      <p:ext uri="{BB962C8B-B14F-4D97-AF65-F5344CB8AC3E}">
        <p14:creationId xmlns:p14="http://schemas.microsoft.com/office/powerpoint/2010/main" val="3176902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114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4572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9088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767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555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4655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6385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887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461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197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69174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5441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14580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3679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154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498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7/3/2026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39128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defRPr b="1">
                <a:solidFill>
                  <a:srgbClr val="0A1E50"/>
                </a:solidFill>
              </a:defRPr>
            </a:pPr>
            <a:r>
              <a:rPr dirty="0" err="1"/>
              <a:t>BuildIQ</a:t>
            </a:r>
            <a:endParaRPr dirty="0"/>
          </a:p>
          <a:p>
            <a:r>
              <a:rPr dirty="0"/>
              <a:t>Construction Material Management System</a:t>
            </a:r>
          </a:p>
        </p:txBody>
      </p:sp>
      <p:sp>
        <p:nvSpPr>
          <p:cNvPr id="3" name="Subtitle 2"/>
          <p:cNvSpPr>
            <a:spLocks noGrp="1"/>
          </p:cNvSpPr>
          <p:nvPr>
            <p:ph type="subTitle" idx="1"/>
          </p:nvPr>
        </p:nvSpPr>
        <p:spPr>
          <a:xfrm>
            <a:off x="1942416" y="4777380"/>
            <a:ext cx="6600451" cy="1413355"/>
          </a:xfrm>
        </p:spPr>
        <p:txBody>
          <a:bodyPr>
            <a:noAutofit/>
          </a:bodyPr>
          <a:lstStyle/>
          <a:p>
            <a:pPr>
              <a:defRPr>
                <a:solidFill>
                  <a:srgbClr val="808080"/>
                </a:solidFill>
              </a:defRPr>
            </a:pPr>
            <a:r>
              <a:rPr sz="1000" dirty="0"/>
              <a:t>A digital platform for efficient construction inventory tracking and reporting.</a:t>
            </a:r>
          </a:p>
          <a:p>
            <a:endParaRPr sz="1000" dirty="0"/>
          </a:p>
          <a:p>
            <a:r>
              <a:rPr lang="en-US" sz="1000" dirty="0" smtClean="0"/>
              <a:t>Name : </a:t>
            </a:r>
            <a:r>
              <a:rPr lang="en-US" sz="1000" dirty="0" err="1" smtClean="0"/>
              <a:t>Gontumukkala</a:t>
            </a:r>
            <a:r>
              <a:rPr lang="en-US" sz="1000" dirty="0" smtClean="0"/>
              <a:t> </a:t>
            </a:r>
            <a:r>
              <a:rPr lang="en-US" sz="1000" dirty="0" err="1" smtClean="0"/>
              <a:t>Sharada</a:t>
            </a:r>
            <a:endParaRPr sz="1000" dirty="0"/>
          </a:p>
          <a:p>
            <a:r>
              <a:rPr sz="1000" dirty="0"/>
              <a:t>College </a:t>
            </a:r>
            <a:r>
              <a:rPr sz="1000" dirty="0" smtClean="0"/>
              <a:t>Name</a:t>
            </a:r>
            <a:r>
              <a:rPr lang="en-US" sz="1000" dirty="0" smtClean="0"/>
              <a:t> :</a:t>
            </a:r>
            <a:r>
              <a:rPr sz="1000" dirty="0" smtClean="0"/>
              <a:t> </a:t>
            </a:r>
            <a:r>
              <a:rPr lang="en-US" sz="1000" dirty="0" err="1" smtClean="0"/>
              <a:t>G.Pulla</a:t>
            </a:r>
            <a:r>
              <a:rPr lang="en-US" sz="1000" dirty="0" smtClean="0"/>
              <a:t> Reddy Engineering College</a:t>
            </a:r>
            <a:endParaRPr sz="1000" dirty="0"/>
          </a:p>
          <a:p>
            <a:r>
              <a:rPr sz="1000" dirty="0"/>
              <a:t>Guide </a:t>
            </a:r>
            <a:r>
              <a:rPr sz="1000" dirty="0" smtClean="0"/>
              <a:t>Name</a:t>
            </a:r>
            <a:r>
              <a:rPr lang="en-US" sz="1000" dirty="0" smtClean="0"/>
              <a:t> </a:t>
            </a:r>
            <a:r>
              <a:rPr sz="1000" dirty="0" smtClean="0"/>
              <a:t>: </a:t>
            </a:r>
            <a:r>
              <a:rPr lang="en-US" sz="1000" dirty="0" err="1" smtClean="0"/>
              <a:t>Dr.k.Satya</a:t>
            </a:r>
            <a:r>
              <a:rPr lang="en-US" sz="1000" dirty="0" smtClean="0"/>
              <a:t> </a:t>
            </a:r>
            <a:r>
              <a:rPr lang="en-US" sz="1000" dirty="0" err="1" smtClean="0"/>
              <a:t>Babu</a:t>
            </a:r>
            <a:r>
              <a:rPr lang="en-US" sz="1000" dirty="0" smtClean="0"/>
              <a:t> Sir</a:t>
            </a:r>
            <a:endParaRPr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852710"/>
            <a:ext cx="6589199" cy="1280890"/>
          </a:xfrm>
        </p:spPr>
        <p:txBody>
          <a:bodyPr/>
          <a:lstStyle/>
          <a:p>
            <a:pPr algn="ctr">
              <a:defRPr>
                <a:solidFill>
                  <a:srgbClr val="FF7800"/>
                </a:solidFill>
              </a:defRPr>
            </a:pPr>
            <a:r>
              <a:rPr dirty="0"/>
              <a:t>Introduction</a:t>
            </a:r>
          </a:p>
        </p:txBody>
      </p:sp>
      <p:sp>
        <p:nvSpPr>
          <p:cNvPr id="3" name="Content Placeholder 2"/>
          <p:cNvSpPr>
            <a:spLocks noGrp="1"/>
          </p:cNvSpPr>
          <p:nvPr>
            <p:ph idx="1"/>
          </p:nvPr>
        </p:nvSpPr>
        <p:spPr>
          <a:xfrm>
            <a:off x="1942415" y="1935892"/>
            <a:ext cx="6591985" cy="3777622"/>
          </a:xfrm>
        </p:spPr>
        <p:txBody>
          <a:bodyPr>
            <a:normAutofit fontScale="92500" lnSpcReduction="20000"/>
          </a:bodyPr>
          <a:lstStyle/>
          <a:p>
            <a:pPr algn="just">
              <a:defRPr sz="1800" b="0"/>
            </a:pPr>
            <a:r>
              <a:rPr dirty="0"/>
              <a:t>The construction industry is one of the largest sectors globally, but it often struggles with efficient resource management. Materials like cement, steel, and sand are the backbone of any project.</a:t>
            </a:r>
          </a:p>
          <a:p>
            <a:pPr algn="just">
              <a:defRPr sz="1800" b="1"/>
            </a:pPr>
            <a:r>
              <a:rPr dirty="0"/>
              <a:t>Why Material Management is Crucial:</a:t>
            </a:r>
          </a:p>
          <a:p>
            <a:pPr lvl="1" algn="just">
              <a:defRPr sz="1400" b="0"/>
            </a:pPr>
            <a:r>
              <a:rPr dirty="0"/>
              <a:t>Without proper management, projects experience significant delays and cost overruns. Keeping track of resources ensures smooth operations.</a:t>
            </a:r>
          </a:p>
          <a:p>
            <a:pPr algn="just">
              <a:defRPr sz="1800" b="1"/>
            </a:pPr>
            <a:r>
              <a:rPr dirty="0"/>
              <a:t>Problems with Manual Management:</a:t>
            </a:r>
          </a:p>
          <a:p>
            <a:pPr lvl="1" algn="just">
              <a:defRPr sz="1400" b="0"/>
            </a:pPr>
            <a:r>
              <a:rPr dirty="0"/>
              <a:t>Relying on paper ledgers or simple spreadsheets leads to human errors, lost data, and a lack of real-time visibility.</a:t>
            </a:r>
          </a:p>
          <a:p>
            <a:pPr algn="just">
              <a:defRPr sz="1800" b="1"/>
            </a:pPr>
            <a:r>
              <a:rPr dirty="0"/>
              <a:t>The Need for Digital Solutions:</a:t>
            </a:r>
          </a:p>
          <a:p>
            <a:pPr lvl="1" algn="just">
              <a:defRPr sz="1400" b="0"/>
            </a:pPr>
            <a:r>
              <a:rPr dirty="0"/>
              <a:t>A centralized digital platform automates tracking, minimizes mistakes, and allows project managers to monitor their sites efficiently from anywhere, bringing much-needed transparency to the entire construction process.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0A1E50"/>
                </a:solidFill>
              </a:defRPr>
            </a:pPr>
            <a:r>
              <a:rPr dirty="0"/>
              <a:t>Problem Statement</a:t>
            </a:r>
          </a:p>
        </p:txBody>
      </p:sp>
      <p:sp>
        <p:nvSpPr>
          <p:cNvPr id="3" name="Content Placeholder 2"/>
          <p:cNvSpPr>
            <a:spLocks noGrp="1"/>
          </p:cNvSpPr>
          <p:nvPr>
            <p:ph idx="1"/>
          </p:nvPr>
        </p:nvSpPr>
        <p:spPr>
          <a:xfrm>
            <a:off x="2189551" y="1905000"/>
            <a:ext cx="6591985" cy="3777622"/>
          </a:xfrm>
        </p:spPr>
        <p:txBody>
          <a:bodyPr>
            <a:normAutofit fontScale="85000" lnSpcReduction="20000"/>
          </a:bodyPr>
          <a:lstStyle/>
          <a:p>
            <a:pPr algn="just">
              <a:defRPr sz="1800" b="0"/>
            </a:pPr>
            <a:r>
              <a:rPr dirty="0"/>
              <a:t>Construction projects face numerous challenges when material tracking is done manually.</a:t>
            </a:r>
          </a:p>
          <a:p>
            <a:pPr algn="just">
              <a:defRPr sz="1800" b="1"/>
            </a:pPr>
            <a:r>
              <a:rPr dirty="0"/>
              <a:t>Stock Shortages and Excess Inventory:</a:t>
            </a:r>
          </a:p>
          <a:p>
            <a:pPr lvl="1" algn="just">
              <a:defRPr sz="1400" b="0"/>
            </a:pPr>
            <a:r>
              <a:rPr dirty="0"/>
              <a:t>Without real-time data, sites often run out of crucial materials, pausing work. Conversely, over-ordering ties up capital and leads to material degradation.</a:t>
            </a:r>
          </a:p>
          <a:p>
            <a:pPr algn="just">
              <a:defRPr sz="1800" b="1"/>
            </a:pPr>
            <a:r>
              <a:rPr dirty="0"/>
              <a:t>Material Wastage and Theft:</a:t>
            </a:r>
          </a:p>
          <a:p>
            <a:pPr lvl="1" algn="just">
              <a:defRPr sz="1400" b="0"/>
            </a:pPr>
            <a:r>
              <a:rPr dirty="0"/>
              <a:t>Poor tracking allows materials to be wasted or stolen without anyone noticing until it's too late.</a:t>
            </a:r>
          </a:p>
          <a:p>
            <a:pPr algn="just">
              <a:defRPr sz="1800" b="1"/>
            </a:pPr>
            <a:r>
              <a:rPr dirty="0"/>
              <a:t>Difficulty Tracking Across Branches:</a:t>
            </a:r>
          </a:p>
          <a:p>
            <a:pPr lvl="1" algn="just">
              <a:defRPr sz="1400" b="0"/>
            </a:pPr>
            <a:r>
              <a:rPr dirty="0"/>
              <a:t>Large companies struggle to move resources between multiple sites efficiently, leading to miscommunication and delayed deliveries.</a:t>
            </a:r>
          </a:p>
          <a:p>
            <a:pPr algn="just">
              <a:defRPr sz="1800" b="1"/>
            </a:pPr>
            <a:r>
              <a:rPr dirty="0"/>
              <a:t>Reporting and Decision-Making Issues:</a:t>
            </a:r>
          </a:p>
          <a:p>
            <a:pPr lvl="1" algn="just">
              <a:defRPr sz="1400" b="0"/>
            </a:pPr>
            <a:r>
              <a:rPr dirty="0"/>
              <a:t>Generating daily or weekly reports from manual records takes hours. Managers lack the accurate, timely insights required to make critical financial and operational decisions.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FF7800"/>
                </a:solidFill>
              </a:defRPr>
            </a:pPr>
            <a:r>
              <a:rPr dirty="0"/>
              <a:t>Purpose of the Project</a:t>
            </a:r>
          </a:p>
        </p:txBody>
      </p:sp>
      <p:sp>
        <p:nvSpPr>
          <p:cNvPr id="3" name="Content Placeholder 2"/>
          <p:cNvSpPr>
            <a:spLocks noGrp="1"/>
          </p:cNvSpPr>
          <p:nvPr>
            <p:ph idx="1"/>
          </p:nvPr>
        </p:nvSpPr>
        <p:spPr>
          <a:xfrm>
            <a:off x="1942415" y="1680519"/>
            <a:ext cx="6591985" cy="4230703"/>
          </a:xfrm>
        </p:spPr>
        <p:txBody>
          <a:bodyPr>
            <a:normAutofit lnSpcReduction="10000"/>
          </a:bodyPr>
          <a:lstStyle/>
          <a:p>
            <a:pPr algn="just">
              <a:defRPr sz="1800" b="0"/>
            </a:pPr>
            <a:r>
              <a:rPr dirty="0"/>
              <a:t>The primary idea behind </a:t>
            </a:r>
            <a:r>
              <a:rPr dirty="0" err="1"/>
              <a:t>BuildIQ</a:t>
            </a:r>
            <a:r>
              <a:rPr dirty="0"/>
              <a:t> is to revolutionize how construction companies handle their resources.</a:t>
            </a:r>
          </a:p>
          <a:p>
            <a:pPr algn="just">
              <a:defRPr sz="1800" b="1"/>
            </a:pPr>
            <a:r>
              <a:rPr dirty="0"/>
              <a:t>Why It Was Developed:</a:t>
            </a:r>
          </a:p>
          <a:p>
            <a:pPr lvl="1" algn="just">
              <a:defRPr sz="1400" b="0"/>
            </a:pPr>
            <a:r>
              <a:rPr dirty="0" err="1"/>
              <a:t>BuildIQ</a:t>
            </a:r>
            <a:r>
              <a:rPr dirty="0"/>
              <a:t> was built to eliminate the chaos of paper-based tracking. It replaces outdated methods with a fast, reliable, and user-friendly web application.</a:t>
            </a:r>
          </a:p>
          <a:p>
            <a:pPr algn="just">
              <a:defRPr sz="1800" b="1"/>
            </a:pPr>
            <a:r>
              <a:rPr dirty="0"/>
              <a:t>Centralized Stock Management:</a:t>
            </a:r>
          </a:p>
          <a:p>
            <a:pPr lvl="1" algn="just">
              <a:defRPr sz="1400" b="0"/>
            </a:pPr>
            <a:r>
              <a:rPr dirty="0"/>
              <a:t>The system acts as a single source of truth. All materials stored in the central warehouse are logged digitally, providing absolute clarity on what is available at any moment.</a:t>
            </a:r>
          </a:p>
          <a:p>
            <a:pPr algn="just">
              <a:defRPr sz="1800" b="1"/>
            </a:pPr>
            <a:r>
              <a:rPr dirty="0"/>
              <a:t>Improving Communication:</a:t>
            </a:r>
          </a:p>
          <a:p>
            <a:pPr lvl="1" algn="just">
              <a:defRPr sz="1400" b="0"/>
            </a:pPr>
            <a:r>
              <a:rPr dirty="0"/>
              <a:t>It bridges the gap between the main warehouse and branch sites. Constructors can instantly request materials through the platform, and managers can approve and dispatch them without endless phone calls or paperwork.</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0A1E50"/>
                </a:solidFill>
              </a:defRPr>
            </a:pPr>
            <a:r>
              <a:rPr dirty="0"/>
              <a:t>Objectives</a:t>
            </a:r>
          </a:p>
        </p:txBody>
      </p:sp>
      <p:sp>
        <p:nvSpPr>
          <p:cNvPr id="3" name="Content Placeholder 2"/>
          <p:cNvSpPr>
            <a:spLocks noGrp="1"/>
          </p:cNvSpPr>
          <p:nvPr>
            <p:ph idx="1"/>
          </p:nvPr>
        </p:nvSpPr>
        <p:spPr>
          <a:xfrm>
            <a:off x="2201907" y="1738184"/>
            <a:ext cx="6591985" cy="3777622"/>
          </a:xfrm>
        </p:spPr>
        <p:txBody>
          <a:bodyPr>
            <a:normAutofit fontScale="77500" lnSpcReduction="20000"/>
          </a:bodyPr>
          <a:lstStyle/>
          <a:p>
            <a:pPr algn="just">
              <a:defRPr sz="1800" b="0"/>
            </a:pPr>
            <a:r>
              <a:rPr dirty="0" err="1"/>
              <a:t>BuildIQ</a:t>
            </a:r>
            <a:r>
              <a:rPr dirty="0"/>
              <a:t> aims to achieve several critical goals to streamline operations:</a:t>
            </a:r>
          </a:p>
          <a:p>
            <a:pPr algn="just">
              <a:defRPr sz="1800" b="1"/>
            </a:pPr>
            <a:r>
              <a:rPr dirty="0"/>
              <a:t>Efficient Inventory Management:</a:t>
            </a:r>
          </a:p>
          <a:p>
            <a:pPr lvl="1" algn="just">
              <a:defRPr sz="1400" b="0"/>
            </a:pPr>
            <a:r>
              <a:rPr dirty="0"/>
              <a:t>Maintain an accurate, real-time database of all materials across all sites, ensuring nothing is lost.</a:t>
            </a:r>
          </a:p>
          <a:p>
            <a:pPr algn="just">
              <a:defRPr sz="1800" b="1"/>
            </a:pPr>
            <a:r>
              <a:rPr dirty="0"/>
              <a:t>Consumption Tracking:</a:t>
            </a:r>
          </a:p>
          <a:p>
            <a:pPr lvl="1" algn="just">
              <a:defRPr sz="1400" b="0"/>
            </a:pPr>
            <a:r>
              <a:rPr dirty="0"/>
              <a:t>Monitor exactly how much of each material is used daily, identifying patterns and preventing unexpected shortages.</a:t>
            </a:r>
          </a:p>
          <a:p>
            <a:pPr algn="just">
              <a:defRPr sz="1800" b="1"/>
            </a:pPr>
            <a:r>
              <a:rPr dirty="0"/>
              <a:t>Report Generation:</a:t>
            </a:r>
          </a:p>
          <a:p>
            <a:pPr lvl="1" algn="just">
              <a:defRPr sz="1400" b="0"/>
            </a:pPr>
            <a:r>
              <a:rPr dirty="0"/>
              <a:t>Automatically create professional PDF reports for audits, billing, and management reviews with a single click.</a:t>
            </a:r>
          </a:p>
          <a:p>
            <a:pPr algn="just">
              <a:defRPr sz="1800" b="1"/>
            </a:pPr>
            <a:r>
              <a:rPr dirty="0"/>
              <a:t>Demand Forecasting:</a:t>
            </a:r>
          </a:p>
          <a:p>
            <a:pPr lvl="1" algn="just">
              <a:defRPr sz="1400" b="0"/>
            </a:pPr>
            <a:r>
              <a:rPr dirty="0"/>
              <a:t>Use historical consumption data to predict future needs, allowing better budget planning.</a:t>
            </a:r>
          </a:p>
          <a:p>
            <a:pPr algn="just">
              <a:defRPr sz="1800" b="1"/>
            </a:pPr>
            <a:r>
              <a:rPr dirty="0"/>
              <a:t>Transparency and Accountability:</a:t>
            </a:r>
          </a:p>
          <a:p>
            <a:pPr lvl="1" algn="just">
              <a:defRPr sz="1400" b="0"/>
            </a:pPr>
            <a:r>
              <a:rPr dirty="0"/>
              <a:t>Assign clear roles and track every action, ensuring that every bag of cement and piece of steel is fully accounted for by a specific user.</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FF7800"/>
                </a:solidFill>
              </a:defRPr>
            </a:pPr>
            <a:r>
              <a:rPr dirty="0"/>
              <a:t>How the Application Was Developed</a:t>
            </a:r>
          </a:p>
        </p:txBody>
      </p:sp>
      <p:sp>
        <p:nvSpPr>
          <p:cNvPr id="3" name="Content Placeholder 2"/>
          <p:cNvSpPr>
            <a:spLocks noGrp="1"/>
          </p:cNvSpPr>
          <p:nvPr>
            <p:ph idx="1"/>
          </p:nvPr>
        </p:nvSpPr>
        <p:spPr>
          <a:xfrm>
            <a:off x="2201907" y="2129481"/>
            <a:ext cx="6591985" cy="3777622"/>
          </a:xfrm>
        </p:spPr>
        <p:txBody>
          <a:bodyPr>
            <a:normAutofit fontScale="77500" lnSpcReduction="20000"/>
          </a:bodyPr>
          <a:lstStyle/>
          <a:p>
            <a:pPr algn="just">
              <a:defRPr sz="1800" b="0"/>
            </a:pPr>
            <a:r>
              <a:rPr dirty="0" err="1"/>
              <a:t>BuildIQ</a:t>
            </a:r>
            <a:r>
              <a:rPr dirty="0"/>
              <a:t> is built using the MERN stack, chosen for its speed, scalability, and robust community support.</a:t>
            </a:r>
          </a:p>
          <a:p>
            <a:pPr algn="just">
              <a:defRPr sz="1800" b="1"/>
            </a:pPr>
            <a:r>
              <a:rPr dirty="0"/>
              <a:t>Frontend - React.js:</a:t>
            </a:r>
          </a:p>
          <a:p>
            <a:pPr lvl="1" algn="just">
              <a:defRPr sz="1400" b="0"/>
            </a:pPr>
            <a:r>
              <a:rPr dirty="0"/>
              <a:t>React was used to build a dynamic, fast, and responsive user interface. It allows for seamless navigation and real-time dashboard updates without reloading the page.</a:t>
            </a:r>
          </a:p>
          <a:p>
            <a:pPr algn="just">
              <a:defRPr sz="1800" b="1"/>
            </a:pPr>
            <a:r>
              <a:rPr dirty="0"/>
              <a:t>Backend - Node.js and Express.js:</a:t>
            </a:r>
          </a:p>
          <a:p>
            <a:pPr lvl="1" algn="just">
              <a:defRPr sz="1400" b="0"/>
            </a:pPr>
            <a:r>
              <a:rPr dirty="0"/>
              <a:t>Node.js provides a powerful server environment, while Express.js creates efficient APIs. They handle all logic, from processing material requests to authenticating users.</a:t>
            </a:r>
          </a:p>
          <a:p>
            <a:pPr algn="just">
              <a:defRPr sz="1800" b="1"/>
            </a:pPr>
            <a:r>
              <a:rPr dirty="0"/>
              <a:t>Database - MongoDB:</a:t>
            </a:r>
          </a:p>
          <a:p>
            <a:pPr lvl="1" algn="just">
              <a:defRPr sz="1400" b="0"/>
            </a:pPr>
            <a:r>
              <a:rPr dirty="0"/>
              <a:t>As a NoSQL database, MongoDB offers flexibility in storing complex data like varying material types, user logs, and transaction histories efficiently.</a:t>
            </a:r>
          </a:p>
          <a:p>
            <a:pPr algn="just">
              <a:defRPr sz="1800" b="1"/>
            </a:pPr>
            <a:r>
              <a:rPr dirty="0"/>
              <a:t>Working Together:</a:t>
            </a:r>
          </a:p>
          <a:p>
            <a:pPr lvl="1" algn="just">
              <a:defRPr sz="1400" b="0"/>
            </a:pPr>
            <a:r>
              <a:rPr dirty="0"/>
              <a:t>The frontend sends requests to the Node backend, which securely accesses and updates the MongoDB database, returning real-time data back to the user's dashboard.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0A1E50"/>
                </a:solidFill>
              </a:defRPr>
            </a:pPr>
            <a:r>
              <a:rPr dirty="0"/>
              <a:t>System Architecture</a:t>
            </a:r>
          </a:p>
        </p:txBody>
      </p:sp>
      <p:sp>
        <p:nvSpPr>
          <p:cNvPr id="3" name="Content Placeholder 2"/>
          <p:cNvSpPr>
            <a:spLocks noGrp="1"/>
          </p:cNvSpPr>
          <p:nvPr>
            <p:ph idx="1"/>
          </p:nvPr>
        </p:nvSpPr>
        <p:spPr>
          <a:xfrm>
            <a:off x="2251334" y="1905000"/>
            <a:ext cx="6591985" cy="3777622"/>
          </a:xfrm>
        </p:spPr>
        <p:txBody>
          <a:bodyPr>
            <a:normAutofit fontScale="92500" lnSpcReduction="20000"/>
          </a:bodyPr>
          <a:lstStyle/>
          <a:p>
            <a:pPr algn="just">
              <a:defRPr sz="1800" b="0"/>
            </a:pPr>
            <a:r>
              <a:rPr dirty="0"/>
              <a:t>The system is structured around different roles, ensuring data security and a clear flow of operations.</a:t>
            </a:r>
          </a:p>
          <a:p>
            <a:pPr algn="just">
              <a:defRPr sz="1800" b="1"/>
            </a:pPr>
            <a:r>
              <a:rPr dirty="0"/>
              <a:t>Admin and Stock Manager:</a:t>
            </a:r>
          </a:p>
          <a:p>
            <a:pPr lvl="1" algn="just">
              <a:defRPr sz="1400" b="0"/>
            </a:pPr>
            <a:r>
              <a:rPr dirty="0"/>
              <a:t>The Admin oversees the entire system, managing users and global settings. The Stock Manager adds new stock to the central database and approves branch requests.</a:t>
            </a:r>
          </a:p>
          <a:p>
            <a:pPr algn="just">
              <a:defRPr sz="1800" b="1"/>
            </a:pPr>
            <a:r>
              <a:rPr dirty="0"/>
              <a:t>Constructor/Branch Manager:</a:t>
            </a:r>
          </a:p>
          <a:p>
            <a:pPr lvl="1" algn="just">
              <a:defRPr sz="1400" b="0"/>
            </a:pPr>
            <a:r>
              <a:rPr dirty="0"/>
              <a:t>Constructors log into their specific branch, request required materials from the central warehouse, and record daily consumption on-site.</a:t>
            </a:r>
          </a:p>
          <a:p>
            <a:pPr algn="just">
              <a:defRPr sz="1800" b="1"/>
            </a:pPr>
            <a:r>
              <a:rPr dirty="0"/>
              <a:t>Data Flow:</a:t>
            </a:r>
          </a:p>
          <a:p>
            <a:pPr lvl="1" algn="just">
              <a:defRPr sz="1400" b="0"/>
            </a:pPr>
            <a:r>
              <a:rPr dirty="0"/>
              <a:t>A Constructor submits a material request via the UI. The request is stored in the Database. The Stock Manager sees the request on their Dashboard, approves it, and the system automatically deducts the stock from the warehouse and adds it to the branch's inventory. Analytics are instantly updated.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988540"/>
            <a:ext cx="6589199" cy="916459"/>
          </a:xfrm>
        </p:spPr>
        <p:txBody>
          <a:bodyPr/>
          <a:lstStyle/>
          <a:p>
            <a:pPr algn="ctr">
              <a:defRPr>
                <a:solidFill>
                  <a:srgbClr val="FF7800"/>
                </a:solidFill>
              </a:defRPr>
            </a:pPr>
            <a:r>
              <a:rPr dirty="0"/>
              <a:t>Key Features</a:t>
            </a:r>
          </a:p>
        </p:txBody>
      </p:sp>
      <p:sp>
        <p:nvSpPr>
          <p:cNvPr id="3" name="Content Placeholder 2"/>
          <p:cNvSpPr>
            <a:spLocks noGrp="1"/>
          </p:cNvSpPr>
          <p:nvPr>
            <p:ph idx="1"/>
          </p:nvPr>
        </p:nvSpPr>
        <p:spPr>
          <a:xfrm>
            <a:off x="2164837" y="2203622"/>
            <a:ext cx="6591985" cy="3777622"/>
          </a:xfrm>
        </p:spPr>
        <p:txBody>
          <a:bodyPr>
            <a:normAutofit fontScale="85000" lnSpcReduction="20000"/>
          </a:bodyPr>
          <a:lstStyle/>
          <a:p>
            <a:pPr algn="just">
              <a:defRPr sz="1800" b="0"/>
            </a:pPr>
            <a:r>
              <a:rPr dirty="0" err="1"/>
              <a:t>BuildIQ</a:t>
            </a:r>
            <a:r>
              <a:rPr dirty="0"/>
              <a:t> provides a comprehensive suite of tools for complete material control.</a:t>
            </a:r>
          </a:p>
          <a:p>
            <a:pPr algn="just">
              <a:defRPr sz="1800" b="1"/>
            </a:pPr>
            <a:r>
              <a:rPr dirty="0"/>
              <a:t>Inventory Management &amp; Material Requests:</a:t>
            </a:r>
          </a:p>
          <a:p>
            <a:pPr lvl="1" algn="just">
              <a:defRPr sz="1400" b="0"/>
            </a:pPr>
            <a:r>
              <a:rPr dirty="0"/>
              <a:t>Users can categorize and search for items easily. Branch managers can submit standardized requests, preventing miscommunication over quantities.</a:t>
            </a:r>
          </a:p>
          <a:p>
            <a:pPr algn="just">
              <a:defRPr sz="1800" b="1"/>
            </a:pPr>
            <a:r>
              <a:rPr dirty="0"/>
              <a:t>AI-Based Suggestions:</a:t>
            </a:r>
          </a:p>
          <a:p>
            <a:pPr lvl="1" algn="just">
              <a:defRPr sz="1400" b="0"/>
            </a:pPr>
            <a:r>
              <a:rPr dirty="0"/>
              <a:t>When typing material names, the system smartly suggests standard items (e.g., 'Portland Cement 50kg'), reducing duplicate entries and keeping data clean.</a:t>
            </a:r>
          </a:p>
          <a:p>
            <a:pPr algn="just">
              <a:defRPr sz="1800" b="1"/>
            </a:pPr>
            <a:r>
              <a:rPr dirty="0"/>
              <a:t>Analytics Dashboard &amp; Reports:</a:t>
            </a:r>
          </a:p>
          <a:p>
            <a:pPr lvl="1" algn="just">
              <a:defRPr sz="1400" b="0"/>
            </a:pPr>
            <a:r>
              <a:rPr dirty="0"/>
              <a:t>Interactive charts display consumption trends over time. Users can instantly generate detailed, professional PDF reports for any date range.</a:t>
            </a:r>
          </a:p>
          <a:p>
            <a:pPr algn="just">
              <a:defRPr sz="1800" b="1"/>
            </a:pPr>
            <a:r>
              <a:rPr dirty="0"/>
              <a:t>Branch-Wise Tracking:</a:t>
            </a:r>
          </a:p>
          <a:p>
            <a:pPr lvl="1" algn="just">
              <a:defRPr sz="1400" b="0"/>
            </a:pPr>
            <a:r>
              <a:rPr dirty="0"/>
              <a:t>Stock is not just tracked globally. Managers can view the exact inventory levels at Site A versus Site B, allowing for smart transfers between branches.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976184"/>
            <a:ext cx="6589199" cy="928815"/>
          </a:xfrm>
        </p:spPr>
        <p:txBody>
          <a:bodyPr/>
          <a:lstStyle/>
          <a:p>
            <a:pPr algn="ctr">
              <a:defRPr>
                <a:solidFill>
                  <a:srgbClr val="0A1E50"/>
                </a:solidFill>
              </a:defRPr>
            </a:pPr>
            <a:r>
              <a:rPr dirty="0"/>
              <a:t>How the System Works</a:t>
            </a:r>
          </a:p>
        </p:txBody>
      </p:sp>
      <p:sp>
        <p:nvSpPr>
          <p:cNvPr id="3" name="Content Placeholder 2"/>
          <p:cNvSpPr>
            <a:spLocks noGrp="1"/>
          </p:cNvSpPr>
          <p:nvPr>
            <p:ph idx="1"/>
          </p:nvPr>
        </p:nvSpPr>
        <p:spPr/>
        <p:txBody>
          <a:bodyPr>
            <a:normAutofit fontScale="85000" lnSpcReduction="20000"/>
          </a:bodyPr>
          <a:lstStyle/>
          <a:p>
            <a:pPr algn="just">
              <a:defRPr sz="1800" b="0"/>
            </a:pPr>
            <a:r>
              <a:rPr dirty="0"/>
              <a:t>Using </a:t>
            </a:r>
            <a:r>
              <a:rPr dirty="0" err="1"/>
              <a:t>BuildIQ</a:t>
            </a:r>
            <a:r>
              <a:rPr dirty="0"/>
              <a:t> is a seamless, step-by-step process designed for daily construction workflows.</a:t>
            </a:r>
          </a:p>
          <a:p>
            <a:pPr algn="just">
              <a:defRPr sz="1800" b="1"/>
            </a:pPr>
            <a:r>
              <a:rPr dirty="0"/>
              <a:t>Step 1: Adding Stock:</a:t>
            </a:r>
          </a:p>
          <a:p>
            <a:pPr lvl="1" algn="just">
              <a:defRPr sz="1400" b="0"/>
            </a:pPr>
            <a:r>
              <a:rPr dirty="0"/>
              <a:t>A delivery arrives at the main warehouse. The Stock Manager logs into the system, inputs the invoice details, and adds the materials to the central inventory.</a:t>
            </a:r>
          </a:p>
          <a:p>
            <a:pPr algn="just">
              <a:defRPr sz="1800" b="1"/>
            </a:pPr>
            <a:r>
              <a:rPr dirty="0"/>
              <a:t>Step 2: Requesting Materials:</a:t>
            </a:r>
          </a:p>
          <a:p>
            <a:pPr lvl="1" algn="just">
              <a:defRPr sz="1400" b="0"/>
            </a:pPr>
            <a:r>
              <a:rPr dirty="0"/>
              <a:t>A Constructor at Site A realizes they need 100 bags of cement for tomorrow. They open </a:t>
            </a:r>
            <a:r>
              <a:rPr dirty="0" err="1"/>
              <a:t>BuildIQ</a:t>
            </a:r>
            <a:r>
              <a:rPr dirty="0"/>
              <a:t> and submit a digital request.</a:t>
            </a:r>
          </a:p>
          <a:p>
            <a:pPr algn="just">
              <a:defRPr sz="1800" b="1"/>
            </a:pPr>
            <a:r>
              <a:rPr dirty="0"/>
              <a:t>Step 3: Approval and Transfer:</a:t>
            </a:r>
          </a:p>
          <a:p>
            <a:pPr lvl="1" algn="just">
              <a:defRPr sz="1400" b="0"/>
            </a:pPr>
            <a:r>
              <a:rPr dirty="0"/>
              <a:t>The Stock Manager approves the request. The system automatically updates the central database and credits Site A's digital inventory.</a:t>
            </a:r>
          </a:p>
          <a:p>
            <a:pPr algn="just">
              <a:defRPr sz="1800" b="1"/>
            </a:pPr>
            <a:r>
              <a:rPr dirty="0"/>
              <a:t>Step 4: Consumption and Reporting:</a:t>
            </a:r>
          </a:p>
          <a:p>
            <a:pPr lvl="1" algn="just">
              <a:defRPr sz="1400" b="0"/>
            </a:pPr>
            <a:r>
              <a:rPr dirty="0"/>
              <a:t>At the end of the day, the Constructor logs the materials used. The Dashboard updates its graphs, showing current stock levels and consumption rates instantly.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902042"/>
            <a:ext cx="6589199" cy="1002957"/>
          </a:xfrm>
        </p:spPr>
        <p:txBody>
          <a:bodyPr/>
          <a:lstStyle/>
          <a:p>
            <a:pPr algn="ctr">
              <a:defRPr>
                <a:solidFill>
                  <a:srgbClr val="FF7800"/>
                </a:solidFill>
              </a:defRPr>
            </a:pPr>
            <a:r>
              <a:rPr dirty="0"/>
              <a:t>Benefits of the Application</a:t>
            </a:r>
          </a:p>
        </p:txBody>
      </p:sp>
      <p:sp>
        <p:nvSpPr>
          <p:cNvPr id="3" name="Content Placeholder 2"/>
          <p:cNvSpPr>
            <a:spLocks noGrp="1"/>
          </p:cNvSpPr>
          <p:nvPr>
            <p:ph idx="1"/>
          </p:nvPr>
        </p:nvSpPr>
        <p:spPr/>
        <p:txBody>
          <a:bodyPr>
            <a:normAutofit fontScale="85000" lnSpcReduction="20000"/>
          </a:bodyPr>
          <a:lstStyle/>
          <a:p>
            <a:pPr algn="just">
              <a:defRPr sz="1800" b="0"/>
            </a:pPr>
            <a:r>
              <a:rPr dirty="0" err="1"/>
              <a:t>BuildIQ</a:t>
            </a:r>
            <a:r>
              <a:rPr dirty="0"/>
              <a:t> transforms traditional operations, delivering significant value to construction firms.</a:t>
            </a:r>
          </a:p>
          <a:p>
            <a:pPr algn="just">
              <a:defRPr sz="1800" b="1"/>
            </a:pPr>
            <a:r>
              <a:rPr dirty="0"/>
              <a:t>Saves Time and Reduces Costs:</a:t>
            </a:r>
          </a:p>
          <a:p>
            <a:pPr lvl="1" algn="just">
              <a:defRPr sz="1400" b="0"/>
            </a:pPr>
            <a:r>
              <a:rPr dirty="0"/>
              <a:t>By automating manual ledger entries and report generation, staff can focus on actual construction. Accurate tracking prevents over-purchasing and expensive emergency orders.</a:t>
            </a:r>
          </a:p>
          <a:p>
            <a:pPr algn="just">
              <a:defRPr sz="1800" b="1"/>
            </a:pPr>
            <a:r>
              <a:rPr dirty="0"/>
              <a:t>Minimizes Wastage:</a:t>
            </a:r>
          </a:p>
          <a:p>
            <a:pPr lvl="1" algn="just">
              <a:defRPr sz="1400" b="0"/>
            </a:pPr>
            <a:r>
              <a:rPr dirty="0"/>
              <a:t>Strict accountability and tracking ensure that materials are not lost, misplaced, or spoiled due to improper storage management.</a:t>
            </a:r>
          </a:p>
          <a:p>
            <a:pPr algn="just">
              <a:defRPr sz="1800" b="1"/>
            </a:pPr>
            <a:r>
              <a:rPr dirty="0"/>
              <a:t>Improves Decision-Making:</a:t>
            </a:r>
          </a:p>
          <a:p>
            <a:pPr lvl="1" algn="just">
              <a:defRPr sz="1400" b="0"/>
            </a:pPr>
            <a:r>
              <a:rPr dirty="0"/>
              <a:t>Project managers can view real-time data and charts. If they see steel consumption is higher than expected, they can investigate immediately rather than waiting for end-of-month audits.</a:t>
            </a:r>
          </a:p>
          <a:p>
            <a:pPr algn="just">
              <a:defRPr sz="1800" b="1"/>
            </a:pPr>
            <a:r>
              <a:rPr dirty="0"/>
              <a:t>Increases Transparency:</a:t>
            </a:r>
          </a:p>
          <a:p>
            <a:pPr lvl="1" algn="just">
              <a:defRPr sz="1400" b="0"/>
            </a:pPr>
            <a:r>
              <a:rPr dirty="0"/>
              <a:t>Every transaction is logged with a user ID and timestamp, eliminating disputes between the warehouse and branch sites.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solidFill>
                  <a:srgbClr val="0A1E50"/>
                </a:solidFill>
              </a:defRPr>
            </a:pPr>
            <a:r>
              <a:rPr dirty="0"/>
              <a:t>How Users Can Use the Application</a:t>
            </a:r>
          </a:p>
        </p:txBody>
      </p:sp>
      <p:sp>
        <p:nvSpPr>
          <p:cNvPr id="3" name="Content Placeholder 2"/>
          <p:cNvSpPr>
            <a:spLocks noGrp="1"/>
          </p:cNvSpPr>
          <p:nvPr>
            <p:ph idx="1"/>
          </p:nvPr>
        </p:nvSpPr>
        <p:spPr/>
        <p:txBody>
          <a:bodyPr>
            <a:normAutofit fontScale="92500" lnSpcReduction="10000"/>
          </a:bodyPr>
          <a:lstStyle/>
          <a:p>
            <a:pPr algn="just">
              <a:defRPr sz="1800" b="0"/>
            </a:pPr>
            <a:r>
              <a:rPr dirty="0"/>
              <a:t>The platform is designed with a user-friendly interface requiring minimal training.</a:t>
            </a:r>
          </a:p>
          <a:p>
            <a:pPr algn="just">
              <a:defRPr sz="1800" b="1"/>
            </a:pPr>
            <a:r>
              <a:rPr dirty="0"/>
              <a:t>Secure Login Process:</a:t>
            </a:r>
          </a:p>
          <a:p>
            <a:pPr lvl="1" algn="just">
              <a:defRPr sz="1400" b="0"/>
            </a:pPr>
            <a:r>
              <a:rPr dirty="0"/>
              <a:t>Users log in with their credentials. The system detects their role (Admin, Manager, Constructor) and loads the appropriate dashboard securely.</a:t>
            </a:r>
          </a:p>
          <a:p>
            <a:pPr algn="just">
              <a:defRPr sz="1800" b="1"/>
            </a:pPr>
            <a:r>
              <a:rPr dirty="0"/>
              <a:t>Stock Management and Requests:</a:t>
            </a:r>
          </a:p>
          <a:p>
            <a:pPr lvl="1" algn="just">
              <a:defRPr sz="1400" b="0"/>
            </a:pPr>
            <a:r>
              <a:rPr dirty="0"/>
              <a:t>Through an intuitive form, users can view a list of available materials. Requesting items takes just a few clicks—select the item, enter the quantity, and submit.</a:t>
            </a:r>
          </a:p>
          <a:p>
            <a:pPr algn="just">
              <a:defRPr sz="1800" b="1"/>
            </a:pPr>
            <a:r>
              <a:rPr dirty="0"/>
              <a:t>Dashboard and Reports:</a:t>
            </a:r>
          </a:p>
          <a:p>
            <a:pPr lvl="1" algn="just">
              <a:defRPr sz="1400" b="0"/>
            </a:pPr>
            <a:r>
              <a:rPr dirty="0"/>
              <a:t>Upon logging in, users are greeted with visual graphs of their recent activity. To generate a report, they navigate to the 'Reports' section, select a date range, and click 'Export PDF' to download.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963826"/>
            <a:ext cx="6589199" cy="941173"/>
          </a:xfrm>
        </p:spPr>
        <p:txBody>
          <a:bodyPr/>
          <a:lstStyle/>
          <a:p>
            <a:pPr algn="ctr">
              <a:defRPr>
                <a:solidFill>
                  <a:srgbClr val="FF7800"/>
                </a:solidFill>
              </a:defRPr>
            </a:pPr>
            <a:r>
              <a:rPr dirty="0"/>
              <a:t>Future Enhancements</a:t>
            </a:r>
          </a:p>
        </p:txBody>
      </p:sp>
      <p:sp>
        <p:nvSpPr>
          <p:cNvPr id="3" name="Content Placeholder 2"/>
          <p:cNvSpPr>
            <a:spLocks noGrp="1"/>
          </p:cNvSpPr>
          <p:nvPr>
            <p:ph idx="1"/>
          </p:nvPr>
        </p:nvSpPr>
        <p:spPr/>
        <p:txBody>
          <a:bodyPr>
            <a:normAutofit fontScale="92500" lnSpcReduction="10000"/>
          </a:bodyPr>
          <a:lstStyle/>
          <a:p>
            <a:pPr algn="just">
              <a:defRPr sz="1800" b="0"/>
            </a:pPr>
            <a:r>
              <a:rPr dirty="0" err="1"/>
              <a:t>BuildIQ</a:t>
            </a:r>
            <a:r>
              <a:rPr dirty="0"/>
              <a:t> is designed to scale and evolve. Several advanced features are planned for future versions.</a:t>
            </a:r>
          </a:p>
          <a:p>
            <a:pPr algn="just">
              <a:defRPr sz="1800" b="1"/>
            </a:pPr>
            <a:r>
              <a:rPr dirty="0"/>
              <a:t>Mobile Application and QR Scanning:</a:t>
            </a:r>
          </a:p>
          <a:p>
            <a:pPr lvl="1" algn="just">
              <a:defRPr sz="1400" b="0"/>
            </a:pPr>
            <a:r>
              <a:rPr dirty="0"/>
              <a:t>A dedicated mobile app will allow site workers to scan QR codes on material batches to log deliveries and consumption instantly from their phones.</a:t>
            </a:r>
          </a:p>
          <a:p>
            <a:pPr algn="just">
              <a:defRPr sz="1800" b="1"/>
            </a:pPr>
            <a:r>
              <a:rPr dirty="0"/>
              <a:t>Predictive Analytics using AI:</a:t>
            </a:r>
          </a:p>
          <a:p>
            <a:pPr lvl="1" algn="just">
              <a:defRPr sz="1400" b="0"/>
            </a:pPr>
            <a:r>
              <a:rPr dirty="0"/>
              <a:t>Machine learning algorithms will analyze past projects to automatically predict material requirements and alert managers before shortages occur.</a:t>
            </a:r>
          </a:p>
          <a:p>
            <a:pPr algn="just">
              <a:defRPr sz="1800" b="1"/>
            </a:pPr>
            <a:r>
              <a:rPr dirty="0"/>
              <a:t>Real-Time Notifications and Cloud Deployment:</a:t>
            </a:r>
          </a:p>
          <a:p>
            <a:pPr lvl="1" algn="just">
              <a:defRPr sz="1400" b="0"/>
            </a:pPr>
            <a:r>
              <a:rPr dirty="0"/>
              <a:t>Integration with SMS and email will provide instant alerts for low stock or approved requests. Full cloud deployment will allow multi-company, multi-tenant usage seamlessly.</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939114"/>
            <a:ext cx="6589199" cy="965886"/>
          </a:xfrm>
        </p:spPr>
        <p:txBody>
          <a:bodyPr/>
          <a:lstStyle/>
          <a:p>
            <a:pPr algn="ctr">
              <a:defRPr>
                <a:solidFill>
                  <a:srgbClr val="0A1E50"/>
                </a:solidFill>
              </a:defRPr>
            </a:pPr>
            <a:r>
              <a:rPr dirty="0"/>
              <a:t>Conclusion</a:t>
            </a:r>
          </a:p>
        </p:txBody>
      </p:sp>
      <p:sp>
        <p:nvSpPr>
          <p:cNvPr id="3" name="Content Placeholder 2"/>
          <p:cNvSpPr>
            <a:spLocks noGrp="1"/>
          </p:cNvSpPr>
          <p:nvPr>
            <p:ph idx="1"/>
          </p:nvPr>
        </p:nvSpPr>
        <p:spPr/>
        <p:txBody>
          <a:bodyPr>
            <a:normAutofit fontScale="92500" lnSpcReduction="10000"/>
          </a:bodyPr>
          <a:lstStyle/>
          <a:p>
            <a:pPr algn="just">
              <a:defRPr sz="1800" b="0"/>
            </a:pPr>
            <a:r>
              <a:rPr dirty="0" err="1"/>
              <a:t>BuildIQ</a:t>
            </a:r>
            <a:r>
              <a:rPr dirty="0"/>
              <a:t> provides a necessary digital transformation for the construction sector.</a:t>
            </a:r>
          </a:p>
          <a:p>
            <a:pPr algn="just">
              <a:defRPr sz="1800" b="1"/>
            </a:pPr>
            <a:r>
              <a:rPr dirty="0"/>
              <a:t>Summary of the Project:</a:t>
            </a:r>
          </a:p>
          <a:p>
            <a:pPr lvl="1" algn="just">
              <a:defRPr sz="1400" b="0"/>
            </a:pPr>
            <a:r>
              <a:rPr dirty="0"/>
              <a:t>We have successfully developed a centralized, MERN-stack based platform that simplifies the complex task of managing construction materials across multiple sites.</a:t>
            </a:r>
          </a:p>
          <a:p>
            <a:pPr algn="just">
              <a:defRPr sz="1800" b="1"/>
            </a:pPr>
            <a:r>
              <a:rPr dirty="0"/>
              <a:t>Impact on Construction Companies:</a:t>
            </a:r>
          </a:p>
          <a:p>
            <a:pPr lvl="1" algn="just">
              <a:defRPr sz="1400" b="0"/>
            </a:pPr>
            <a:r>
              <a:rPr dirty="0"/>
              <a:t>By shifting from manual ledgers to a digital dashboard, companies can save countless hours, significantly reduce material wastage, and maintain strict control over their budgets.</a:t>
            </a:r>
          </a:p>
          <a:p>
            <a:pPr algn="just">
              <a:defRPr sz="1800" b="1"/>
            </a:pPr>
            <a:r>
              <a:rPr dirty="0"/>
              <a:t>A Practical Solution:</a:t>
            </a:r>
          </a:p>
          <a:p>
            <a:pPr lvl="1" algn="just">
              <a:defRPr sz="1400" b="0"/>
            </a:pPr>
            <a:r>
              <a:rPr dirty="0"/>
              <a:t>Ultimately, </a:t>
            </a:r>
            <a:r>
              <a:rPr dirty="0" err="1"/>
              <a:t>BuildIQ</a:t>
            </a:r>
            <a:r>
              <a:rPr dirty="0"/>
              <a:t> is not just a tracking tool; it is a comprehensive management system that brings efficiency, transparency, and data-driven decision-making to construction projects of any scale.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12</TotalTime>
  <Words>1564</Words>
  <Application>Microsoft Office PowerPoint</Application>
  <PresentationFormat>On-screen Show (4:3)</PresentationFormat>
  <Paragraphs>118</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Wisp</vt:lpstr>
      <vt:lpstr>BuildIQ Construction Material Management System</vt:lpstr>
      <vt:lpstr>Introduction</vt:lpstr>
      <vt:lpstr>Problem Statement</vt:lpstr>
      <vt:lpstr>Purpose of the Project</vt:lpstr>
      <vt:lpstr>Objectives</vt:lpstr>
      <vt:lpstr>How the Application Was Developed</vt:lpstr>
      <vt:lpstr>System Architecture</vt:lpstr>
      <vt:lpstr>Key Features</vt:lpstr>
      <vt:lpstr>How the System Works</vt:lpstr>
      <vt:lpstr>Benefits of the Application</vt:lpstr>
      <vt:lpstr>How Users Can Use the Application</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BuildIQ Construction Material Management System</dc:title>
  <dc:subject/>
  <dc:creator/>
  <cp:keywords/>
  <dc:description>generated using python-pptx</dc:description>
  <cp:lastModifiedBy>DELL</cp:lastModifiedBy>
  <cp:revision>4</cp:revision>
  <dcterms:created xsi:type="dcterms:W3CDTF">2013-01-27T09:14:16Z</dcterms:created>
  <dcterms:modified xsi:type="dcterms:W3CDTF">2026-07-03T20:46:48Z</dcterms:modified>
  <cp:category/>
</cp:coreProperties>
</file>